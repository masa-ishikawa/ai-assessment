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1" r:id="rId5"/>
  </p:sldMasterIdLst>
  <p:notesMasterIdLst>
    <p:notesMasterId r:id="rId25"/>
  </p:notesMasterIdLst>
  <p:handoutMasterIdLst>
    <p:handoutMasterId r:id="rId26"/>
  </p:handoutMasterIdLst>
  <p:sldIdLst>
    <p:sldId id="256" r:id="rId14"/>
    <p:sldId id="2147483541" r:id="rId18"/>
    <p:sldId id="269" r:id="rId24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pos="17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p188="http://schemas.microsoft.com/office/powerpoint/2018/8/main">
  <p188:author id="{1F247655-47CC-FB63-C5C7-523D008CD984}" name="AI Assessment" initials="" userId="" providerId=""/>
  <p188:author id="{15BBF38A-F7BC-7B2E-0D61-21D1F83CE523}" name="AI Assessment" initials="" userId="" providerId=""/>
</p188:authorLst>
</file>

<file path=ppt/commentAuthors.xml><?xml version="1.0" encoding="utf-8"?>
<p:cmAuthorLst xmlns:ns1="http://schemas.microsoft.com/office/powerpoint/2012/main" xmlns:p="http://schemas.openxmlformats.org/presentationml/2006/main">
  <p:cmAuthor id="1" name="AI Assessment" initials="" lastIdx="4" clrIdx="0">
    <p:extLst>
      <p:ext uri="{19B8F6BF-5375-455C-9EA6-DF929625EA0E}">
        <ns1:presenceInfo userId="" providerId="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FFFFF"/>
    <a:srgbClr val="FEFEFE"/>
    <a:srgbClr val="2A2F2F"/>
    <a:srgbClr val="AE562C"/>
    <a:srgbClr val="ECECEC"/>
    <a:srgbClr val="5F363F"/>
    <a:srgbClr val="E4E1DD"/>
    <a:srgbClr val="F1EFED"/>
    <a:srgbClr val="AE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92" autoAdjust="0"/>
    <p:restoredTop sz="96595" autoAdjust="0"/>
  </p:normalViewPr>
  <p:slideViewPr>
    <p:cSldViewPr showGuides="1">
      <p:cViewPr varScale="1">
        <p:scale>
          <a:sx n="110" d="100"/>
          <a:sy n="110" d="100"/>
        </p:scale>
        <p:origin x="200" y="808"/>
      </p:cViewPr>
      <p:guideLst>
        <p:guide orient="horz" pos="119"/>
        <p:guide pos="1799"/>
      </p:guideLst>
    </p:cSldViewPr>
  </p:slideViewPr>
  <p:outlineViewPr>
    <p:cViewPr>
      <p:scale>
        <a:sx n="33" d="100"/>
        <a:sy n="33" d="100"/>
      </p:scale>
      <p:origin x="0" y="-49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4864" y="216"/>
      </p:cViewPr>
      <p:guideLst>
        <p:guide orient="horz" pos="3888"/>
        <p:guide pos="230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slide" Target="slides/slide5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24" Type="http://schemas.openxmlformats.org/officeDocument/2006/relationships/slide" Target="slides/slide11.xml"/><Relationship Id="rId32" Type="http://schemas.microsoft.com/office/2018/10/relationships/authors" Target="authors.xml"/><Relationship Id="rId5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14" Type="http://schemas.openxmlformats.org/officeDocument/2006/relationships/slide" Target="slides/slide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+mn-lt"/>
              </a:defRPr>
            </a:lvl1pPr>
          </a:lstStyle>
          <a:p>
            <a:fld id="{4F9C25BA-F9B0-4418-8CA0-3A9DF1256BA5}" type="datetimeFigureOut">
              <a:rPr lang="en-US" smtClean="0"/>
              <a:pPr/>
              <a:t>10/7/26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+mn-lt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_Pilla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93B935A-285A-BFFA-E1F4-E79FEB4F9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2468" y="2148840"/>
            <a:ext cx="6400800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100000"/>
              </a:lnSpc>
              <a:defRPr lang="en-US" sz="4000" b="1" i="0" dirty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(up to two lines) </a:t>
            </a:r>
            <a:br>
              <a:rPr lang="en-US" dirty="0"/>
            </a:br>
            <a:r>
              <a:rPr lang="en-US" dirty="0"/>
              <a:t>Oracle Sans Tab Bold</a:t>
            </a:r>
          </a:p>
        </p:txBody>
      </p:sp>
      <p:sp>
        <p:nvSpPr>
          <p:cNvPr id="7" name="Subhead">
            <a:extLst>
              <a:ext uri="{FF2B5EF4-FFF2-40B4-BE49-F238E27FC236}">
                <a16:creationId xmlns:a16="http://schemas.microsoft.com/office/drawing/2014/main" id="{EFFF89DD-9D0E-59AA-468D-56F8DF0173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2468" y="3519553"/>
            <a:ext cx="6400800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line.</a:t>
            </a:r>
          </a:p>
        </p:txBody>
      </p:sp>
      <p:sp>
        <p:nvSpPr>
          <p:cNvPr id="8" name="Text Field">
            <a:extLst>
              <a:ext uri="{FF2B5EF4-FFF2-40B4-BE49-F238E27FC236}">
                <a16:creationId xmlns:a16="http://schemas.microsoft.com/office/drawing/2014/main" id="{72DF4953-83D4-E63F-FAE9-12C7C69CAF7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2468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9" name="Text Field 2">
            <a:extLst>
              <a:ext uri="{FF2B5EF4-FFF2-40B4-BE49-F238E27FC236}">
                <a16:creationId xmlns:a16="http://schemas.microsoft.com/office/drawing/2014/main" id="{53939284-5D96-A771-F7CE-39D3A9ADA0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2468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9E8FD7-3B27-6D98-CDF8-03B96EAE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2158C-16EA-51FD-AADB-5CCD7264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95117"/>
            <a:ext cx="365760" cy="36576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F17F9-481A-5855-B8F0-D871C1F8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997061"/>
            <a:ext cx="2743200" cy="3635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AEE68-C65E-C8C2-44CB-1ECCD753ADAB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7759" y="6995435"/>
            <a:ext cx="5745379" cy="365125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 dirty="0"/>
              <a:t>Copyright © 2026, Oracle and/or its affiliates</a:t>
            </a:r>
          </a:p>
        </p:txBody>
      </p:sp>
      <p:pic>
        <p:nvPicPr>
          <p:cNvPr id="10" name="Oracle Logo" descr="Oracle Logo">
            <a:extLst>
              <a:ext uri="{FF2B5EF4-FFF2-40B4-BE49-F238E27FC236}">
                <a16:creationId xmlns:a16="http://schemas.microsoft.com/office/drawing/2014/main" id="{510A29EB-A69A-C86E-648C-CFF0A2762D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730669" y="1132368"/>
            <a:ext cx="1524893" cy="320039"/>
          </a:xfrm>
          <a:prstGeom prst="rect">
            <a:avLst/>
          </a:prstGeom>
        </p:spPr>
      </p:pic>
      <p:pic>
        <p:nvPicPr>
          <p:cNvPr id="13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BB472E52-9049-8F88-829D-93C385311F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  <p:sp>
        <p:nvSpPr>
          <p:cNvPr id="6" name="Accent mark">
            <a:extLst>
              <a:ext uri="{FF2B5EF4-FFF2-40B4-BE49-F238E27FC236}">
                <a16:creationId xmlns:a16="http://schemas.microsoft.com/office/drawing/2014/main" id="{F6C8D001-5C68-50FD-8A15-9F62CD4FC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3805" y="4166108"/>
            <a:ext cx="36576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75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B95271D6-CF2C-D8C3-F7FB-D555FC2D94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10671048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 dirty="0"/>
              <a:t>Copyright © 2026, Oracle and/or its affiliates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28271ED-B1CF-9F0D-4AA0-883D80DEDB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1799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racle Logo" descr="Oracle Logo">
            <a:extLst>
              <a:ext uri="{FF2B5EF4-FFF2-40B4-BE49-F238E27FC236}">
                <a16:creationId xmlns:a16="http://schemas.microsoft.com/office/drawing/2014/main" id="{11C3E469-1A28-4EAE-BB94-ADAB90F021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invGray">
          <a:xfrm>
            <a:off x="4043835" y="2998299"/>
            <a:ext cx="4104330" cy="86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8B8580"/>
                </a:solidFill>
                <a:latin typeface="+mn-lt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8B8580"/>
                </a:solidFill>
                <a:latin typeface="+mn-lt"/>
              </a:defRPr>
            </a:lvl1pPr>
          </a:lstStyle>
          <a:p>
            <a:r>
              <a:rPr lang="en-US" dirty="0"/>
              <a:t>Copyright © 2026, Oracle and/or its affiliates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8B8580"/>
                </a:solidFill>
                <a:latin typeface="+mn-lt"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3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775A8D6B-AAED-949C-F702-A8E8C8F069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077" r:id="rId6"/>
    <p:sldLayoutId id="2147483944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kumimoji="1" lang="en-US" sz="2400" b="1" i="0" kern="1200" baseline="0" dirty="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System Font Regular"/>
        <a:buChar char="-"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-"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Meiryo UI" panose="020B0604030504040204" pitchFamily="34" charset="-128"/>
          <a:cs typeface="Oracle Sans" panose="020B05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System Font Regular"/>
        <a:buChar char="-"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7pPr>
      <a:lvl8pPr marL="1604963" indent="-203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8pPr>
      <a:lvl9pPr marL="1889125" indent="-2032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tabLst/>
        <a:defRPr kumimoji="1" sz="1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5ACBF0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CFD1EF31-B5E9-605A-3FAF-B139FB9AF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68" y="2148840"/>
            <a:ext cx="8903932" cy="1280160"/>
          </a:xfrm>
        </p:spPr>
        <p:txBody>
          <a:bodyPr/>
          <a:lstStyle/>
          <a:p>
            <a:pPr marL="0" indent="0" algn="l">
              <a:buNone/>
            </a:pPr>
            <a:r>
              <a:rPr kumimoji="1" lang="ja-JP" altLang="en-US" sz="2800" b="1">
                <a:solidFill>
                  <a:srgbClr val="2A2F2F"/>
                </a:solidFill>
                <a:latin typeface="Meiryo UI"/>
                <a:ea typeface="Meiryo UI"/>
                <a:cs typeface="Meiryo UI"/>
              </a:rPr>
              <a:t>（仮）AI </a:t>
            </a:r>
            <a:r>
              <a:rPr kumimoji="1" lang="ja-JP" altLang="en-US" sz="2800" b="1" dirty="0">
                <a:solidFill>
                  <a:srgbClr val="2A2F2F"/>
                </a:solidFill>
                <a:latin typeface="Meiryo UI"/>
                <a:ea typeface="Meiryo UI"/>
                <a:cs typeface="Meiryo UI"/>
              </a:rPr>
              <a:t>Use Case Assessment</a:t>
            </a:r>
            <a:endParaRPr lang="ja-JP" sz="2800">
              <a:latin typeface="Meiryo UI"/>
              <a:ea typeface="Meiryo UI"/>
              <a:cs typeface="Meiryo UI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702A559B-73AE-35C0-5FF4-429E8006AA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kumimoji="1" lang="ja-JP" altLang="en-US" sz="1800" b="0" dirty="0">
                <a:solidFill>
                  <a:srgbClr val="2A2F2F"/>
                </a:solidFill>
                <a:latin typeface="Meiryo UI"/>
                <a:ea typeface="Meiryo UI"/>
                <a:cs typeface="Meiryo UI"/>
              </a:rPr>
              <a:t>ISVのAI案件を、業務課題から実装へ</a:t>
            </a:r>
            <a:endParaRPr lang="ja-JP" sz="1800">
              <a:latin typeface="Meiryo UI"/>
              <a:ea typeface="Meiryo UI"/>
              <a:cs typeface="Meiryo UI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794CD41D-1E48-576E-E724-6AAD1C8D09C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92468" y="4544568"/>
            <a:ext cx="5077970" cy="266291"/>
          </a:xfrm>
        </p:spPr>
        <p:txBody>
          <a:bodyPr/>
          <a:lstStyle/>
          <a:p>
            <a:pPr lvl="0"/>
            <a:r>
              <a:rPr lang="ja-JP" altLang="en-US" sz="180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クラウド事業統括</a:t>
            </a:r>
            <a:endParaRPr lang="en-US" altLang="ja-JP" sz="1800" dirty="0">
              <a:solidFill>
                <a:srgbClr val="312D2A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  <a:p>
            <a:pPr lvl="0"/>
            <a:r>
              <a:rPr lang="ja-JP" altLang="en-US" sz="180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パートナー</a:t>
            </a:r>
            <a:r>
              <a:rPr lang="en-US" altLang="ja-JP" sz="1800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AI</a:t>
            </a:r>
            <a:r>
              <a:rPr lang="ja-JP" altLang="en-US" sz="180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共創エンジニアリング統括</a:t>
            </a:r>
            <a:r>
              <a:rPr lang="en-US" altLang="ja-JP" sz="180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 (PAX)</a:t>
            </a:r>
            <a:endParaRPr lang="en-US" altLang="ja-JP" sz="1800" dirty="0">
              <a:solidFill>
                <a:srgbClr val="312D2A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  <a:p>
            <a:pPr lvl="0"/>
            <a:r>
              <a:rPr lang="en-US" altLang="ja-JP" sz="1800" dirty="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AI/ISV</a:t>
            </a:r>
            <a:r>
              <a:rPr lang="ja-JP" altLang="en-US" sz="1800">
                <a:solidFill>
                  <a:srgbClr val="312D2A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ソリューション本部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AB8F67-5CAC-7428-1557-46D3C3F3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D6CF4FFB-657D-C15C-ADFD-E14DD89DF545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 dirty="0"/>
              <a:t>Copyright © 2026, Oracle and/or its affiliates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D7663A5-66DB-ED80-9D5A-616670FC782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5770" y="5733949"/>
            <a:ext cx="5077970" cy="365125"/>
          </a:xfrm>
        </p:spPr>
        <p:txBody>
          <a:bodyPr/>
          <a:lstStyle/>
          <a:p>
            <a:pPr marL="0" indent="0" algn="l">
              <a:buNone/>
            </a:pPr>
            <a:endParaRPr lang="ja-JP" sz="1500">
              <a:latin typeface="Meiryo UI"/>
              <a:ea typeface="Meiryo UI"/>
              <a:cs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18314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2004-43B7-24E5-4FAF-05E734AD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22BCD6-631E-8CBD-5326-46258D43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kumimoji="1" lang="ja-JP" altLang="en-US" sz="2400" b="1" dirty="0">
                <a:solidFill>
                  <a:srgbClr val="2A2F2F"/>
                </a:solidFill>
                <a:latin typeface="Meiryo UI"/>
                <a:ea typeface="Meiryo UI"/>
                <a:cs typeface="Meiryo UI"/>
              </a:rPr>
              <a:t>資料生成を</a:t>
            </a:r>
            <a:r>
              <a:rPr kumimoji="1" lang="ja-JP" altLang="en-US" sz="2400" b="1">
                <a:solidFill>
                  <a:srgbClr val="2A2F2F"/>
                </a:solidFill>
                <a:latin typeface="Meiryo UI"/>
                <a:ea typeface="Meiryo UI"/>
                <a:cs typeface="Meiryo UI"/>
              </a:rPr>
              <a:t>自動化する仕組み</a:t>
            </a:r>
            <a:endParaRPr lang="ja-JP" sz="2400">
              <a:latin typeface="Meiryo UI"/>
              <a:ea typeface="Meiryo UI"/>
              <a:cs typeface="Meiryo U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2E182E-062C-729A-177E-A339818CEF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90895-B87A-6A60-10B4-0B886EDE8A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2026, Oracle and/or its affiliates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5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3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racle-FY26-7.9">
  <a:themeElements>
    <a:clrScheme name="Custom 43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racle Red">
      <a:srgbClr val="C74634"/>
    </a:custClr>
    <a:custClr name="Brand Dark 170/Hyperlink Dark">
      <a:srgbClr val="F0CC72"/>
    </a:custClr>
    <a:custClr name="Beige 50">
      <a:srgbClr val="D8D0B5"/>
    </a:custClr>
    <a:custClr name="Pine 80">
      <a:srgbClr val="74A683"/>
    </a:custClr>
    <a:custClr name="Teal 90">
      <a:srgbClr val="628F8D"/>
    </a:custClr>
    <a:custClr name="Plum 90">
      <a:srgbClr val="957CA4"/>
    </a:custClr>
    <a:custClr name="Sky 80">
      <a:srgbClr val="5FA2BA"/>
    </a:custClr>
    <a:custClr name="Higlight Light">
      <a:srgbClr val="AE562C"/>
    </a:custClr>
    <a:custClr name="Rose 90">
      <a:srgbClr val="B47282"/>
    </a:custClr>
    <a:custClr name="Brand Yellow ">
      <a:srgbClr val="F1B13F"/>
    </a:custClr>
    <a:custClr name="Brand: Neutral 30">
      <a:srgbClr val="F1EFED"/>
    </a:custClr>
    <a:custClr name="Developer: Pebble 30">
      <a:srgbClr val="E7F0FD"/>
    </a:custClr>
    <a:custClr name="Database: Slate 50">
      <a:srgbClr val="C2D4D4"/>
    </a:custClr>
    <a:custClr name="Pine 90">
      <a:srgbClr val="5C926D"/>
    </a:custClr>
    <a:custClr name="Teal 110">
      <a:srgbClr val="467173"/>
    </a:custClr>
    <a:custClr name="Plum 110">
      <a:srgbClr val="796087"/>
    </a:custClr>
    <a:custClr name="Sky 100">
      <a:srgbClr val="227E9E"/>
    </a:custClr>
    <a:custClr name="Ocean 90">
      <a:srgbClr val="558EA4"/>
    </a:custClr>
    <a:custClr name="Rose 100">
      <a:srgbClr val="925865"/>
    </a:custClr>
    <a:custClr name="Sienna 50">
      <a:srgbClr val="ECCB98"/>
    </a:custClr>
    <a:custClr name="Neutral 70">
      <a:srgbClr val="AEA8A2"/>
    </a:custClr>
    <a:custClr name="Pebble 90">
      <a:srgbClr val="808792"/>
    </a:custClr>
    <a:custClr name="Database: Slate 100">
      <a:srgbClr val="697778"/>
    </a:custClr>
    <a:custClr name="Pine 100">
      <a:srgbClr val="4C825C"/>
    </a:custClr>
    <a:custClr name="Teal 130">
      <a:srgbClr val="375D61"/>
    </a:custClr>
    <a:custClr name="Plum 130">
      <a:srgbClr val="634E71"/>
    </a:custClr>
    <a:custClr name="Sky 120">
      <a:srgbClr val="00688C"/>
    </a:custClr>
    <a:custClr name="Ocean 110">
      <a:srgbClr val="3B7087"/>
    </a:custClr>
    <a:custClr name="Rose 130">
      <a:srgbClr val="7A4753"/>
    </a:custClr>
    <a:custClr name="Sienna 60">
      <a:srgbClr val="DEB068"/>
    </a:custClr>
    <a:custClr name="Brand: Neutral 140">
      <a:srgbClr val="514C47"/>
    </a:custClr>
    <a:custClr name="Pebble 130">
      <a:srgbClr val="53575F"/>
    </a:custClr>
    <a:custClr name="Slate 150">
      <a:srgbClr val="3C4545"/>
    </a:custClr>
    <a:custClr name="Pine 120">
      <a:srgbClr val="3F6B4B"/>
    </a:custClr>
    <a:custClr name="Teal 150">
      <a:srgbClr val="2B484B"/>
    </a:custClr>
    <a:custClr name="Plum 150">
      <a:srgbClr val="4D3C57"/>
    </a:custClr>
    <a:custClr name="Sky 140">
      <a:srgbClr val="04536F"/>
    </a:custClr>
    <a:custClr name="Ocean 120">
      <a:srgbClr val="36677D"/>
    </a:custClr>
    <a:custClr name="Rose 150">
      <a:srgbClr val="5F363F"/>
    </a:custClr>
    <a:custClr name="Sienna 80">
      <a:srgbClr val="C58C52"/>
    </a:custClr>
    <a:custClr name="Brand: Neutral 180">
      <a:srgbClr val="201E1C"/>
    </a:custClr>
    <a:custClr name="Pebble 170">
      <a:srgbClr val="2B2E32"/>
    </a:custClr>
    <a:custClr name="Slate 170">
      <a:srgbClr val="2A2F2F"/>
    </a:custClr>
    <a:custClr name="Pine 160">
      <a:srgbClr val="253D2C"/>
    </a:custClr>
    <a:custClr name="Teal 170">
      <a:srgbClr val="1E3133"/>
    </a:custClr>
    <a:custClr name="Plum 170">
      <a:srgbClr val="36293C"/>
    </a:custClr>
    <a:custClr name="Sky 160">
      <a:srgbClr val="063C4E"/>
    </a:custClr>
    <a:custClr name="Ocean 180">
      <a:srgbClr val="13212C"/>
    </a:custClr>
    <a:custClr name="Rose 180">
      <a:srgbClr val="2D191D"/>
    </a:custClr>
    <a:custClr name="SCM: Sienna 90">
      <a:srgbClr val="B67745"/>
    </a:custClr>
  </a:custClrLst>
  <a:extLst>
    <a:ext uri="{05A4C25C-085E-4340-85A3-A5531E510DB2}">
      <thm15:themeFamily xmlns:thm15="http://schemas.microsoft.com/office/thememl/2012/main" name="RW-Early-FY26-v7.9" id="{1B9217EA-5673-234B-9217-B5CA3B2FE7A3}" vid="{FABD2F94-C213-394E-92C4-BD5B57B0E645}"/>
    </a:ext>
  </a:extLst>
</a:theme>
</file>

<file path=ppt/theme/theme10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4b6b08d2-6182-4197-8221-8710a9404ced" ContentTypeId="0x0101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cludeInSearch xmlns="f085ca05-1a56-417b-bcef-25b3bd9988f8">true</IncludeInSearch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4D32D32504BC4EAD4EAC92204A0AF7" ma:contentTypeVersion="11" ma:contentTypeDescription="新しいドキュメントを作成します。" ma:contentTypeScope="" ma:versionID="3e1ed7801628cabccf4dd1bc4ac069ec">
  <xsd:schema xmlns:xsd="http://www.w3.org/2001/XMLSchema" xmlns:xs="http://www.w3.org/2001/XMLSchema" xmlns:p="http://schemas.microsoft.com/office/2006/metadata/properties" xmlns:ns2="f085ca05-1a56-417b-bcef-25b3bd9988f8" xmlns:ns3="f8dda539-844d-40c4-995b-663607955607" targetNamespace="http://schemas.microsoft.com/office/2006/metadata/properties" ma:root="true" ma:fieldsID="322a3759eafa9ef658b37e3b8744850c" ns2:_="" ns3:_="">
    <xsd:import namespace="f085ca05-1a56-417b-bcef-25b3bd9988f8"/>
    <xsd:import namespace="f8dda539-844d-40c4-995b-663607955607"/>
    <xsd:element name="properties">
      <xsd:complexType>
        <xsd:sequence>
          <xsd:element name="documentManagement">
            <xsd:complexType>
              <xsd:all>
                <xsd:element ref="ns2:IncludeInSearc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5ca05-1a56-417b-bcef-25b3bd9988f8" elementFormDefault="qualified">
    <xsd:import namespace="http://schemas.microsoft.com/office/2006/documentManagement/types"/>
    <xsd:import namespace="http://schemas.microsoft.com/office/infopath/2007/PartnerControls"/>
    <xsd:element name="IncludeInSearch" ma:index="8" nillable="true" ma:displayName="IncludeInMyOracleSearch" ma:default="1" ma:internalName="IncludeInSearch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da539-844d-40c4-995b-6636079556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470AF8-2A96-44EA-9391-A715E60415ED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B8DD2F5C-DFD8-4FE6-82E9-093D52BC2DE4}">
  <ds:schemaRefs>
    <ds:schemaRef ds:uri="http://purl.org/dc/terms/"/>
    <ds:schemaRef ds:uri="f085ca05-1a56-417b-bcef-25b3bd9988f8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f8dda539-844d-40c4-995b-66360795560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086C11-6DB8-4E3E-967D-B05143FBEC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85ca05-1a56-417b-bcef-25b3bd9988f8"/>
    <ds:schemaRef ds:uri="f8dda539-844d-40c4-995b-6636079556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3105861-4C67-43FB-9E8D-7033D8BC0E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Oracle-FY26-7</Template>
  <TotalTime>24627</TotalTime>
  <Words>1141</Words>
  <Application>Microsoft Macintosh PowerPoint</Application>
  <PresentationFormat>ワイド画面</PresentationFormat>
  <Paragraphs>179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11</vt:i4>
      </vt:variant>
    </vt:vector>
  </HeadingPairs>
  <TitlesOfParts>
    <vt:vector size="29" baseType="lpstr">
      <vt:lpstr>Meiryo UI</vt:lpstr>
      <vt:lpstr>System Font Regular</vt:lpstr>
      <vt:lpstr>Arial</vt:lpstr>
      <vt:lpstr>Calibri</vt:lpstr>
      <vt:lpstr>Oracle Sans</vt:lpstr>
      <vt:lpstr>Oracle Sans Extra Bold</vt:lpstr>
      <vt:lpstr>Oracle Sans Light</vt:lpstr>
      <vt:lpstr>Oracle Sans Tab</vt:lpstr>
      <vt:lpstr>Oracle Sans Tab Light</vt:lpstr>
      <vt:lpstr>Oracle-FY26-7.9</vt:lpstr>
      <vt:lpstr>Parent Master Pillars</vt:lpstr>
      <vt:lpstr>9_Parent Master Pillars</vt:lpstr>
      <vt:lpstr>1_Parent Master Pillars</vt:lpstr>
      <vt:lpstr>Oracle-FY26-7.6</vt:lpstr>
      <vt:lpstr>1_Oracle-FY26-7.6</vt:lpstr>
      <vt:lpstr>2_Parent Master Pillars</vt:lpstr>
      <vt:lpstr>Parent Master</vt:lpstr>
      <vt:lpstr>2_Oracle-FY26-7.6</vt:lpstr>
      <vt:lpstr>（仮）AI Use Case Assessment</vt:lpstr>
      <vt:lpstr>ISVにAIを提案するときの難しさ</vt:lpstr>
      <vt:lpstr>AI Use Case Assessmentとは</vt:lpstr>
      <vt:lpstr>AI Use Case Assessmentとは</vt:lpstr>
      <vt:lpstr>資料生成を自動化する仕組み</vt:lpstr>
      <vt:lpstr>資料生成を自動化する仕組み</vt:lpstr>
      <vt:lpstr>資料生成を自動化する仕組み</vt:lpstr>
      <vt:lpstr>AI Assessmentで確認するPoC開始ゲート</vt:lpstr>
      <vt:lpstr>AI案件を進めるために</vt:lpstr>
      <vt:lpstr>FDE型支援とISVエンジニアの役割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Use Case Assessment Sales Session</dc:title>
  <dc:subject/>
  <dc:creator/>
  <cp:keywords/>
  <dc:description/>
  <cp:lastModifiedBy/>
  <cp:revision>696</cp:revision>
  <dcterms:created xsi:type="dcterms:W3CDTF">2025-05-28T09:26:07Z</dcterms:created>
  <dcterms:modified xsi:type="dcterms:W3CDTF">2026-10-07T03:59:59Z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3c76ce46-357f-46de-88d6-77b9bbb83c46_Enabled">
    <vt:lpwstr>true</vt:lpwstr>
  </property>
  <property fmtid="{D5CDD505-2E9C-101B-9397-08002B2CF9AE}" pid="6" name="MSIP_Label_3c76ce46-357f-46de-88d6-77b9bbb83c46_SetDate">
    <vt:lpwstr>2025-01-23T20:44:35Z</vt:lpwstr>
  </property>
  <property fmtid="{D5CDD505-2E9C-101B-9397-08002B2CF9AE}" pid="7" name="MSIP_Label_3c76ce46-357f-46de-88d6-77b9bbb83c46_Method">
    <vt:lpwstr>Privileged</vt:lpwstr>
  </property>
  <property fmtid="{D5CDD505-2E9C-101B-9397-08002B2CF9AE}" pid="8" name="MSIP_Label_3c76ce46-357f-46de-88d6-77b9bbb83c46_Name">
    <vt:lpwstr>Public</vt:lpwstr>
  </property>
  <property fmtid="{D5CDD505-2E9C-101B-9397-08002B2CF9AE}" pid="9" name="MSIP_Label_3c76ce46-357f-46de-88d6-77b9bbb83c46_SiteId">
    <vt:lpwstr>4e2c6054-71cb-48f1-bd6c-3a9705aca71b</vt:lpwstr>
  </property>
  <property fmtid="{D5CDD505-2E9C-101B-9397-08002B2CF9AE}" pid="10" name="MSIP_Label_3c76ce46-357f-46de-88d6-77b9bbb83c46_ActionId">
    <vt:lpwstr>f22884e0-546d-4aff-a9ba-accbb4729511</vt:lpwstr>
  </property>
  <property fmtid="{D5CDD505-2E9C-101B-9397-08002B2CF9AE}" pid="11" name="MSIP_Label_3c76ce46-357f-46de-88d6-77b9bbb83c46_ContentBits">
    <vt:lpwstr>0</vt:lpwstr>
  </property>
  <property fmtid="{D5CDD505-2E9C-101B-9397-08002B2CF9AE}" pid="12" name="MSIP_Label_3c76ce46-357f-46de-88d6-77b9bbb83c46_Tag">
    <vt:lpwstr>50, 0, 1, 1</vt:lpwstr>
  </property>
  <property fmtid="{D5CDD505-2E9C-101B-9397-08002B2CF9AE}" pid="13" name="ContentTypeId">
    <vt:lpwstr>0x010100E74D32D32504BC4EAD4EAC92204A0AF7</vt:lpwstr>
  </property>
</Properties>
</file>